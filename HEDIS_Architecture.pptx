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914400"/>
            <a:ext cx="5029200" cy="502920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74320"/>
            <a:ext cx="3840480" cy="3840480"/>
          </a:xfrm>
          <a:prstGeom prst="roundRect">
            <a:avLst>
              <a:gd name="adj" fmla="val 11905"/>
            </a:avLst>
          </a:prstGeom>
          <a:solidFill>
            <a:srgbClr val="223A6B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4114800" cy="411480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HEDIS Abstractor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Architecture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clinical PDF ingestion, LLM-based measure extraction, and reviewer workflows on Databricks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074920"/>
            <a:ext cx="0" cy="777240"/>
          </a:xfrm>
          <a:prstGeom prst="line">
            <a:avLst/>
          </a:prstGeom>
          <a:noFill/>
          <a:ln w="12700">
            <a:solidFill>
              <a:srgbClr val="3E5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5074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5349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aiagenticdemo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46120" y="5074920"/>
            <a:ext cx="0" cy="777240"/>
          </a:xfrm>
          <a:prstGeom prst="line">
            <a:avLst/>
          </a:prstGeom>
          <a:noFill/>
          <a:ln w="12700">
            <a:solidFill>
              <a:srgbClr val="3E5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5074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83280" y="5349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hedisabstractor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852160" y="5074920"/>
            <a:ext cx="0" cy="777240"/>
          </a:xfrm>
          <a:prstGeom prst="line">
            <a:avLst/>
          </a:prstGeom>
          <a:noFill/>
          <a:ln w="12700">
            <a:solidFill>
              <a:srgbClr val="3E5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5074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89320" y="5349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hedis_pipeline_engine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458200" y="5074920"/>
            <a:ext cx="0" cy="777240"/>
          </a:xfrm>
          <a:prstGeom prst="line">
            <a:avLst/>
          </a:prstGeom>
          <a:noFill/>
          <a:ln w="12700">
            <a:solidFill>
              <a:srgbClr val="3E5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5074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595360" y="5349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GPT-4-turbo / Claude Sonnet 4.5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architectural layers, left to right: data lands, is processed, extracted values are stored, then surfaced through review and analytics UIs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98878" cy="4206240"/>
          </a:xfrm>
          <a:prstGeom prst="roundRect">
            <a:avLst>
              <a:gd name="adj" fmla="val 3660"/>
            </a:avLst>
          </a:prstGeom>
          <a:solidFill>
            <a:srgbClr val="3B5FE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30352" y="1472184"/>
            <a:ext cx="1852574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Volume (landing PDFs)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specification table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74366" y="3520440"/>
            <a:ext cx="283464" cy="914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76118" y="1417320"/>
            <a:ext cx="1998878" cy="4206240"/>
          </a:xfrm>
          <a:prstGeom prst="roundRect">
            <a:avLst>
              <a:gd name="adj" fmla="val 3660"/>
            </a:avLst>
          </a:prstGeom>
          <a:solidFill>
            <a:srgbClr val="1E844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849270" y="1472184"/>
            <a:ext cx="1852574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dedup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 (ai_parse_document)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+ measure extraction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confidence scoring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93285" y="3520440"/>
            <a:ext cx="283464" cy="914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95037" y="1417320"/>
            <a:ext cx="1998878" cy="4206240"/>
          </a:xfrm>
          <a:prstGeom prst="roundRect">
            <a:avLst>
              <a:gd name="adj" fmla="val 3660"/>
            </a:avLst>
          </a:prstGeom>
          <a:solidFill>
            <a:srgbClr val="B9770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168189" y="1472184"/>
            <a:ext cx="1852574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TABLES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active HEDIS measures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inactive (toggle-ready)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Per-member gap flags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12203" y="3520440"/>
            <a:ext cx="283464" cy="914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13955" y="1417320"/>
            <a:ext cx="1998878" cy="4206240"/>
          </a:xfrm>
          <a:prstGeom prst="roundRect">
            <a:avLst>
              <a:gd name="adj" fmla="val 3660"/>
            </a:avLst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87107" y="1472184"/>
            <a:ext cx="1852574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Model Serving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GPT-4-turbo / Claude Sonnet 4.5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logprobs-enabled JSON output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431122" y="3520440"/>
            <a:ext cx="283464" cy="914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732874" y="1417320"/>
            <a:ext cx="1998878" cy="4206240"/>
          </a:xfrm>
          <a:prstGeom prst="roundRect">
            <a:avLst>
              <a:gd name="adj" fmla="val 3660"/>
            </a:avLst>
          </a:prstGeom>
          <a:solidFill>
            <a:srgbClr val="21618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806026" y="1472184"/>
            <a:ext cx="1852574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correction tool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chat assistant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repository browser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statistics dashboard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 flipH="1">
            <a:off x="5186477" y="5760720"/>
            <a:ext cx="4317797" cy="914"/>
          </a:xfrm>
          <a:prstGeom prst="line">
            <a:avLst/>
          </a:prstGeom>
          <a:noFill/>
          <a:ln w="19050">
            <a:solidFill>
              <a:srgbClr val="5A6B8C"/>
            </a:solidFill>
            <a:prstDash val="dash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095037" y="5824728"/>
            <a:ext cx="46378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write-back: reviewer corrections flow from the UI layer to the measure tables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Pipeline — Ingestion to Extraction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hedis_pipeline_engine: from landing PDF to validated, confidence-scored measure output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B5FE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17043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Landing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76272" y="12070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E8449"/>
          </a:solidFill>
          <a:ln/>
        </p:spPr>
      </p:sp>
      <p:sp>
        <p:nvSpPr>
          <p:cNvPr id="7" name="Text 5"/>
          <p:cNvSpPr/>
          <p:nvPr/>
        </p:nvSpPr>
        <p:spPr>
          <a:xfrm>
            <a:off x="2432304" y="1170432"/>
            <a:ext cx="1492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80637" y="12070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B9770E"/>
          </a:solidFill>
          <a:ln/>
        </p:spPr>
      </p:sp>
      <p:sp>
        <p:nvSpPr>
          <p:cNvPr id="9" name="Text 7"/>
          <p:cNvSpPr/>
          <p:nvPr/>
        </p:nvSpPr>
        <p:spPr>
          <a:xfrm>
            <a:off x="4436669" y="1170432"/>
            <a:ext cx="12783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/ Tables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71032" y="12070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8E6BAF"/>
          </a:solidFill>
          <a:ln/>
        </p:spPr>
      </p:sp>
      <p:sp>
        <p:nvSpPr>
          <p:cNvPr id="11" name="Text 9"/>
          <p:cNvSpPr/>
          <p:nvPr/>
        </p:nvSpPr>
        <p:spPr>
          <a:xfrm>
            <a:off x="6227064" y="1170432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/ Intermediate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2070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8302752" y="1170432"/>
            <a:ext cx="1349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908438" y="12070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1618C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4470" y="1170432"/>
            <a:ext cx="707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169164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3B5FE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30352" y="1746504"/>
            <a:ext cx="16367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Volume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/landing_pdf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member PDFs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3B5FE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30352" y="3026664"/>
            <a:ext cx="16367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 Table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Eligibility, exclusions,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lookback rules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97480" y="16916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E844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2770632" y="1746504"/>
            <a:ext cx="18196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Dedup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landing files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vs. processed log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Member_id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97480" y="297180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8E6BA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2770632" y="3026664"/>
            <a:ext cx="18196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processed_pdf_log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control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filename, Insert_Date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16916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E844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056632" y="1746504"/>
            <a:ext cx="1682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ai_parse_document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DBR 17.1+ / Serverless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32320" y="16916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E844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205472" y="1746504"/>
            <a:ext cx="18196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Measure-specific prompts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schemas · NF sentinel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83480" y="333756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E844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056632" y="3392424"/>
            <a:ext cx="1682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Generation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dx, meds,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labs, lifestyle JSON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132320" y="33375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E844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205472" y="3392424"/>
            <a:ext cx="18196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Extraction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Per-measure prompts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logprobs enabled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464040" y="2171700"/>
            <a:ext cx="2286000" cy="1554480"/>
          </a:xfrm>
          <a:prstGeom prst="roundRect">
            <a:avLst>
              <a:gd name="adj" fmla="val 4706"/>
            </a:avLst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9537192" y="2226564"/>
            <a:ext cx="213969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Endpoint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GPT-4-turbo /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JSON, logprobs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32320" y="466344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1E844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205472" y="4718304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Insertion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= NR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/ Batch mode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464040" y="466344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1E844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9537192" y="4718304"/>
            <a:ext cx="2139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Engine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exp(logprob) x 100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89.23% fallback if negative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240280" y="2171700"/>
            <a:ext cx="457200" cy="91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240280" y="3451860"/>
            <a:ext cx="228600" cy="914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 flipV="1">
            <a:off x="2468880" y="1572768"/>
            <a:ext cx="914" cy="1879092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2468880" y="1572768"/>
            <a:ext cx="5646420" cy="914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8115300" y="1572768"/>
            <a:ext cx="914" cy="118872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680460" y="2651760"/>
            <a:ext cx="914" cy="32004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  <a:headEnd type="triangl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663440" y="2171700"/>
            <a:ext cx="320040" cy="91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812280" y="2171700"/>
            <a:ext cx="320040" cy="91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 flipH="1">
            <a:off x="5897880" y="2651760"/>
            <a:ext cx="2217420" cy="68580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 flipH="1">
            <a:off x="7918704" y="2651760"/>
            <a:ext cx="688086" cy="68580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6812280" y="2715768"/>
            <a:ext cx="2651760" cy="1101852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headEnd type="triangle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9098280" y="3182112"/>
            <a:ext cx="365760" cy="635508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headEnd type="triangl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115300" y="4297680"/>
            <a:ext cx="914" cy="36576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9098280" y="5074920"/>
            <a:ext cx="365760" cy="91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7132320" y="55595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output writes to 6 active measure tables + confidence_score  →  see next slide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Tables &amp; Data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extractions land in per-measure fact tables; audit tables track lineage, confidence, and timing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B5FE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17043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Landing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76272" y="12070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E8449"/>
          </a:solidFill>
          <a:ln/>
        </p:spPr>
      </p:sp>
      <p:sp>
        <p:nvSpPr>
          <p:cNvPr id="7" name="Text 5"/>
          <p:cNvSpPr/>
          <p:nvPr/>
        </p:nvSpPr>
        <p:spPr>
          <a:xfrm>
            <a:off x="2432304" y="1170432"/>
            <a:ext cx="1492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80637" y="12070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B9770E"/>
          </a:solidFill>
          <a:ln/>
        </p:spPr>
      </p:sp>
      <p:sp>
        <p:nvSpPr>
          <p:cNvPr id="9" name="Text 7"/>
          <p:cNvSpPr/>
          <p:nvPr/>
        </p:nvSpPr>
        <p:spPr>
          <a:xfrm>
            <a:off x="4436669" y="1170432"/>
            <a:ext cx="12783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/ Tables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71032" y="12070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8E6BAF"/>
          </a:solidFill>
          <a:ln/>
        </p:spPr>
      </p:sp>
      <p:sp>
        <p:nvSpPr>
          <p:cNvPr id="11" name="Text 9"/>
          <p:cNvSpPr/>
          <p:nvPr/>
        </p:nvSpPr>
        <p:spPr>
          <a:xfrm>
            <a:off x="6227064" y="1170432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/ Intermediate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2070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8302752" y="1170432"/>
            <a:ext cx="1349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908438" y="12070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1618C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4470" y="1170432"/>
            <a:ext cx="707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169164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B9770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30352" y="1746504"/>
            <a:ext cx="19568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memberinfo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fact table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key: Member_id + FileID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80360" y="1691640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B9770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2953512" y="1746504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Screening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 flipV="1">
            <a:off x="2560320" y="1975104"/>
            <a:ext cx="320040" cy="242316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880360" y="2368296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B9770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2953512" y="242316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cbp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High BP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560320" y="2217420"/>
            <a:ext cx="320040" cy="43434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880360" y="3044952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B9770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2953512" y="3099816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hbd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 Diabetes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560320" y="2217420"/>
            <a:ext cx="320040" cy="1110996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80360" y="37216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B9770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2953512" y="3776472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bpd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for Diabetics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560320" y="2217420"/>
            <a:ext cx="320040" cy="178765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880360" y="4398264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B9770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2953512" y="445312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eed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Exam Diabetics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560320" y="2217420"/>
            <a:ext cx="320040" cy="2464308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035040" y="169164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E8C27E"/>
          </a:solidFill>
          <a:ln w="15875">
            <a:solidFill>
              <a:srgbClr val="FFFFFF"/>
            </a:solidFill>
            <a:prstDash val="dash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108192" y="174650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6B4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6B4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Cervical Cancer Screening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35040" y="2386584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E8C27E"/>
          </a:solidFill>
          <a:ln w="15875">
            <a:solidFill>
              <a:srgbClr val="FFFFFF"/>
            </a:solidFill>
            <a:prstDash val="dash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108192" y="244144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6B4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6B4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Colorectal Cancer Screening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35040" y="3081528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E8C27E"/>
          </a:solidFill>
          <a:ln w="15875">
            <a:solidFill>
              <a:srgbClr val="FFFFFF"/>
            </a:solidFill>
            <a:prstDash val="dash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6108192" y="3136392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6B4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lsd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6B4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Screening (Children)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35040" y="3776472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E8C27E"/>
          </a:solidFill>
          <a:ln w="15875">
            <a:solidFill>
              <a:srgbClr val="FFFFFF"/>
            </a:solidFill>
            <a:prstDash val="dash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108192" y="383133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6B4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6B4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Prenatal / Postpartum Care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035040" y="4517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toggled off in config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880360" y="534924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B9770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2953512" y="5404104"/>
            <a:ext cx="26883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Per-member gap flags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BCS/COL/BPD/CBP/HBD/EED/IMA/CCS/LSD/PPC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 flipH="1">
            <a:off x="3383280" y="2258568"/>
            <a:ext cx="914400" cy="3090672"/>
          </a:xfrm>
          <a:prstGeom prst="line">
            <a:avLst/>
          </a:prstGeom>
          <a:noFill/>
          <a:ln w="12700">
            <a:solidFill>
              <a:srgbClr val="5A6B8C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 flipH="1">
            <a:off x="3840480" y="2935224"/>
            <a:ext cx="457200" cy="2414016"/>
          </a:xfrm>
          <a:prstGeom prst="line">
            <a:avLst/>
          </a:prstGeom>
          <a:noFill/>
          <a:ln w="12700">
            <a:solidFill>
              <a:srgbClr val="5A6B8C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297680" y="3611880"/>
            <a:ext cx="914" cy="1737360"/>
          </a:xfrm>
          <a:prstGeom prst="line">
            <a:avLst/>
          </a:prstGeom>
          <a:noFill/>
          <a:ln w="12700">
            <a:solidFill>
              <a:srgbClr val="5A6B8C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4297680" y="4288536"/>
            <a:ext cx="457200" cy="1060704"/>
          </a:xfrm>
          <a:prstGeom prst="line">
            <a:avLst/>
          </a:prstGeom>
          <a:noFill/>
          <a:ln w="12700">
            <a:solidFill>
              <a:srgbClr val="5A6B8C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4297680" y="4965192"/>
            <a:ext cx="914400" cy="384048"/>
          </a:xfrm>
          <a:prstGeom prst="line">
            <a:avLst/>
          </a:prstGeom>
          <a:noFill/>
          <a:ln w="12700">
            <a:solidFill>
              <a:srgbClr val="5A6B8C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8732520" y="1691640"/>
            <a:ext cx="2999232" cy="566928"/>
          </a:xfrm>
          <a:prstGeom prst="roundRect">
            <a:avLst>
              <a:gd name="adj" fmla="val 12903"/>
            </a:avLst>
          </a:prstGeom>
          <a:solidFill>
            <a:srgbClr val="8E6BA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8805672" y="1746504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pdf_binary_table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PDF archive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732520" y="2386584"/>
            <a:ext cx="2999232" cy="566928"/>
          </a:xfrm>
          <a:prstGeom prst="roundRect">
            <a:avLst>
              <a:gd name="adj" fmla="val 12903"/>
            </a:avLst>
          </a:prstGeom>
          <a:solidFill>
            <a:srgbClr val="8E6BA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52" name="Text 50"/>
          <p:cNvSpPr txBox="1"/>
          <p:nvPr/>
        </p:nvSpPr>
        <p:spPr>
          <a:xfrm>
            <a:off x="8805672" y="2441448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summary_data_table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summaries + raw text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732520" y="3081528"/>
            <a:ext cx="2999232" cy="566928"/>
          </a:xfrm>
          <a:prstGeom prst="roundRect">
            <a:avLst>
              <a:gd name="adj" fmla="val 12903"/>
            </a:avLst>
          </a:prstGeom>
          <a:solidFill>
            <a:srgbClr val="8E6BA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54" name="Text 52"/>
          <p:cNvSpPr txBox="1"/>
          <p:nvPr/>
        </p:nvSpPr>
        <p:spPr>
          <a:xfrm>
            <a:off x="8805672" y="3136392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confidence_score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measure, score %, filename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732520" y="3776472"/>
            <a:ext cx="2999232" cy="566928"/>
          </a:xfrm>
          <a:prstGeom prst="roundRect">
            <a:avLst>
              <a:gd name="adj" fmla="val 12903"/>
            </a:avLst>
          </a:prstGeom>
          <a:solidFill>
            <a:srgbClr val="8E6BA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8805672" y="3831336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file_info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FileID, location, year, process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Tables &amp; Data Model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Layer &amp; Data Consumption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Streamlit-style apps read validated data, drive reviewer workflows, and surface operational metrics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B5FE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17043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Landing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76272" y="12070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E8449"/>
          </a:solidFill>
          <a:ln/>
        </p:spPr>
      </p:sp>
      <p:sp>
        <p:nvSpPr>
          <p:cNvPr id="7" name="Text 5"/>
          <p:cNvSpPr/>
          <p:nvPr/>
        </p:nvSpPr>
        <p:spPr>
          <a:xfrm>
            <a:off x="2432304" y="1170432"/>
            <a:ext cx="1492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80637" y="12070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B9770E"/>
          </a:solidFill>
          <a:ln/>
        </p:spPr>
      </p:sp>
      <p:sp>
        <p:nvSpPr>
          <p:cNvPr id="9" name="Text 7"/>
          <p:cNvSpPr/>
          <p:nvPr/>
        </p:nvSpPr>
        <p:spPr>
          <a:xfrm>
            <a:off x="4436669" y="1170432"/>
            <a:ext cx="12783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/ Tables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71032" y="12070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8E6BAF"/>
          </a:solidFill>
          <a:ln/>
        </p:spPr>
      </p:sp>
      <p:sp>
        <p:nvSpPr>
          <p:cNvPr id="11" name="Text 9"/>
          <p:cNvSpPr/>
          <p:nvPr/>
        </p:nvSpPr>
        <p:spPr>
          <a:xfrm>
            <a:off x="6227064" y="1170432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/ Intermediate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2070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8302752" y="1170432"/>
            <a:ext cx="1349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908438" y="12070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1618C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4470" y="1170432"/>
            <a:ext cx="707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1691640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B9770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30352" y="1746504"/>
            <a:ext cx="2185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Tables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memberinfo, bcs, cbp,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hbd, bpd, eed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542032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8E6BA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30352" y="2596896"/>
            <a:ext cx="2185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pdf_binary_table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 source PDFs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392424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8E6BA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30352" y="3447288"/>
            <a:ext cx="2185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summary_data_table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clinical summaries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242816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8E6BA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30352" y="4297680"/>
            <a:ext cx="2185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file_info / gap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+ gap flags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5093208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8E6BA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30352" y="5148072"/>
            <a:ext cx="2185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&amp; confidence_score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+ accuracy data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0" y="169164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21618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187952" y="1746504"/>
            <a:ext cx="3236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Review_member.py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PDF + fields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correct extractions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Review_Completed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88920" y="2048256"/>
            <a:ext cx="1325880" cy="100584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2788920" y="2148840"/>
            <a:ext cx="1325880" cy="749808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 flipH="1" flipV="1">
            <a:off x="2788920" y="2226564"/>
            <a:ext cx="1325880" cy="150876"/>
          </a:xfrm>
          <a:prstGeom prst="line">
            <a:avLst/>
          </a:prstGeom>
          <a:noFill/>
          <a:ln w="15875">
            <a:solidFill>
              <a:srgbClr val="5A6B8C"/>
            </a:solidFill>
            <a:prstDash val="dash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114800" y="2807208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21618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4187952" y="2862072"/>
            <a:ext cx="3236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 &amp; chat.py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Q&amp;A on records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model endpoint for chat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 flipV="1">
            <a:off x="2788920" y="3264408"/>
            <a:ext cx="1325880" cy="484632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114800" y="3922776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21618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4187952" y="3977640"/>
            <a:ext cx="3236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Data_repository.py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all measure tables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member / measure / year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88920" y="2048256"/>
            <a:ext cx="1325880" cy="233172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 flipV="1">
            <a:off x="2788920" y="4379976"/>
            <a:ext cx="1325880" cy="219456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114800" y="5038344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21618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4187952" y="5093208"/>
            <a:ext cx="3236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App_statistics.py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metrics dashboard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confidence trends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88920" y="5449824"/>
            <a:ext cx="1325880" cy="4572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321040" y="2624328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23047">
                <a:alpha val="28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8394192" y="2679192"/>
            <a:ext cx="32369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Endpoint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GPT-4-turbo / Claude Sonnet 4.5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completions API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7498080" y="3264408"/>
            <a:ext cx="822960" cy="914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headEnd type="triangle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8321040" y="417880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corrections are the only write path back into the fact tables — every other app is read-only.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 &amp; Consumption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Points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2763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ingestion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88366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processed_pdf_log prevents re-processing the same file across pipeline runs.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54203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68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extraction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79806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Databricks Model Serving endpoint swaps between GPT-4-turbo and Claude Sonnet 4.5.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45643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383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Confidence-scored output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71246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logprob-derived confidence per measure, per file — with a documented fallback constant.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37083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297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review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462686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Review_member.py is the sole write path back into fact tables, with full provenance to source page.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28523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85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Toggle-ready measure set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554126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additional HEDIS measures are modeled and dormant, ready to activate without a schema change.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2026-09-22T08:09:56Z</dcterms:created>
  <dcterms:modified xsi:type="dcterms:W3CDTF">2026-09-22T08:09:56Z</dcterms:modified>
</cp:coreProperties>
</file>