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today we have rich claims, clinical and member data, but reporting only explains what happened, so interventions come after outcomes have deteriorated. Middle: SDOH.ai builds on existing reporting, combines claims, clinical and SDOH data, finds root causes, tiers members by risk early and recommends next best actions for care manager approval. Right: the business value, including savings and ROI tracked for every campaign. Close on the banner: claims tell us what happened, SDOH tells us why and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508000" y="539552"/>
            <a:ext cx="11176000" cy="669727"/>
          </a:xfrm>
          <a:prstGeom prst="rect">
            <a:avLst/>
          </a:prstGeom>
          <a:noFill/>
          <a:ln/>
        </p:spPr>
        <p:txBody>
          <a:bodyPr wrap="square" lIns="0" tIns="0" rIns="0" bIns="0" rtlCol="0" anchor="t"/>
          <a:lstStyle>
            <a:lvl1pPr algn="l" indent="0" marL="0">
              <a:lnSpc>
                <a:spcPct val="115000"/>
              </a:lnSpc>
              <a:buNone/>
              <a:defRPr lang="en-US" sz="2576"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2576" dirty="0"/>
          </a:p>
        </p:txBody>
      </p:sp>
      <p:sp>
        <p:nvSpPr>
          <p:cNvPr id="3" name="Text Placeholder 2"/>
          <p:cNvSpPr/>
          <p:nvPr>
            <p:ph idx="101" type="body"/>
          </p:nvPr>
        </p:nvSpPr>
        <p:spPr>
          <a:xfrm>
            <a:off x="508000" y="1514078"/>
            <a:ext cx="10871200" cy="45311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508000" y="539552"/>
            <a:ext cx="11176000" cy="669727"/>
          </a:xfrm>
          <a:prstGeom prst="rect">
            <a:avLst/>
          </a:prstGeom>
          <a:noFill/>
          <a:ln/>
        </p:spPr>
        <p:txBody>
          <a:bodyPr wrap="square" lIns="0" tIns="0" rIns="0" bIns="0" rtlCol="0" anchor="t"/>
          <a:lstStyle>
            <a:lvl1pPr algn="l" indent="0" marL="0">
              <a:lnSpc>
                <a:spcPct val="115000"/>
              </a:lnSpc>
              <a:buNone/>
              <a:defRPr lang="en-US" sz="2576"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2576" dirty="0"/>
          </a:p>
        </p:txBody>
      </p:sp>
      <p:sp>
        <p:nvSpPr>
          <p:cNvPr id="3" name="Text Placeholder 2"/>
          <p:cNvSpPr/>
          <p:nvPr>
            <p:ph idx="101" type="body"/>
          </p:nvPr>
        </p:nvSpPr>
        <p:spPr>
          <a:xfrm>
            <a:off x="508000" y="1514078"/>
            <a:ext cx="10871200" cy="45311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08000" y="304800"/>
            <a:ext cx="11511280" cy="222052"/>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C2500F"/>
                </a:solidFill>
                <a:latin typeface="DM Sans" pitchFamily="34" charset="0"/>
                <a:ea typeface="DM Sans" pitchFamily="34" charset="-122"/>
                <a:cs typeface="DM Sans" pitchFamily="34" charset="-120"/>
              </a:rPr>
              <a:t>WHY SDOH, WHEN YOU ALREADY HAVE CLAIMS AND CLINICAL DATA?</a:t>
            </a:r>
            <a:endParaRPr lang="en-US" sz="1121" dirty="0"/>
          </a:p>
        </p:txBody>
      </p:sp>
      <p:sp>
        <p:nvSpPr>
          <p:cNvPr id="3" name="Text 1"/>
          <p:cNvSpPr/>
          <p:nvPr>
            <p:ph type="title"/>
          </p:nvPr>
        </p:nvSpPr>
        <p:spPr>
          <a:xfrm>
            <a:off x="508000" y="539552"/>
            <a:ext cx="11684000" cy="695127"/>
          </a:xfrm>
          <a:prstGeom prst="rect">
            <a:avLst/>
          </a:prstGeom>
          <a:noFill/>
          <a:ln/>
        </p:spPr>
        <p:txBody>
          <a:bodyPr wrap="square" lIns="0" tIns="0" rIns="0" bIns="0" rtlCol="0" anchor="t">
            <a:normAutofit/>
          </a:bodyPr>
          <a:lstStyle/>
          <a:p>
            <a:pPr algn="l" indent="0" marL="0">
              <a:lnSpc>
                <a:spcPts val="2833"/>
              </a:lnSpc>
              <a:buNone/>
            </a:pPr>
            <a:r>
              <a:rPr lang="en-US" sz="2576" b="1" i="0" dirty="0">
                <a:solidFill>
                  <a:srgbClr val="14213D"/>
                </a:solidFill>
                <a:latin typeface="DM Sans" pitchFamily="34" charset="0"/>
                <a:ea typeface="DM Sans" pitchFamily="34" charset="-122"/>
                <a:cs typeface="DM Sans" pitchFamily="34" charset="-120"/>
              </a:rPr>
              <a:t>Claims tell us what happened. SDOH tells us why, and what to do next.</a:t>
            </a:r>
            <a:endParaRPr lang="en-US" sz="2576" dirty="0"/>
          </a:p>
        </p:txBody>
      </p:sp>
      <p:sp>
        <p:nvSpPr>
          <p:cNvPr id="4" name="Shape 2"/>
          <p:cNvSpPr/>
          <p:nvPr/>
        </p:nvSpPr>
        <p:spPr>
          <a:xfrm>
            <a:off x="508000" y="1361678"/>
            <a:ext cx="3175000" cy="4382955"/>
          </a:xfrm>
          <a:prstGeom prst="roundRect">
            <a:avLst>
              <a:gd name="adj" fmla="val 4000"/>
            </a:avLst>
          </a:prstGeom>
          <a:solidFill>
            <a:srgbClr val="FFFFFF"/>
          </a:solidFill>
          <a:ln/>
        </p:spPr>
      </p:sp>
      <p:sp>
        <p:nvSpPr>
          <p:cNvPr id="5" name="Shape 3"/>
          <p:cNvSpPr/>
          <p:nvPr/>
        </p:nvSpPr>
        <p:spPr>
          <a:xfrm>
            <a:off x="508000" y="1361678"/>
            <a:ext cx="3175000" cy="4382955"/>
          </a:xfrm>
          <a:custGeom>
            <a:avLst/>
            <a:gdLst/>
            <a:ahLst/>
            <a:cxnLst/>
            <a:rect l="l" t="t" r="r" b="b"/>
            <a:pathLst>
              <a:path w="3175000" h="4382955">
                <a:moveTo>
                  <a:pt x="0" y="127000"/>
                </a:moveTo>
                <a:lnTo>
                  <a:pt x="0" y="127000"/>
                </a:lnTo>
                <a:arcTo hR="127000" wR="127000" stAng="10800000" swAng="5400000"/>
                <a:lnTo>
                  <a:pt x="3048000" y="0"/>
                </a:lnTo>
                <a:arcTo hR="127000" wR="127000" stAng="16200000" swAng="5400000"/>
                <a:lnTo>
                  <a:pt x="3175000" y="127000"/>
                </a:lnTo>
                <a:arcTo hR="76200" wR="127000" stAng="0" swAng="-5400000"/>
                <a:lnTo>
                  <a:pt x="127000" y="50800"/>
                </a:lnTo>
                <a:arcTo hR="76200" wR="127000" stAng="16200000" swAng="-5400000"/>
                <a:close/>
              </a:path>
            </a:pathLst>
          </a:custGeom>
          <a:solidFill>
            <a:srgbClr val="C2500F"/>
          </a:solidFill>
          <a:ln/>
        </p:spPr>
      </p:sp>
      <p:pic>
        <p:nvPicPr>
          <p:cNvPr id="6" name="Image 0" descr="Warning">    </p:cNvPr>
          <p:cNvPicPr>
            <a:picLocks noChangeAspect="1"/>
          </p:cNvPicPr>
          <p:nvPr/>
        </p:nvPicPr>
        <p:blipFill>
          <a:blip r:embed="rId1"/>
          <a:srcRect l="0" r="0" t="0" b="0"/>
          <a:stretch/>
        </p:blipFill>
        <p:spPr>
          <a:xfrm>
            <a:off x="685800" y="1554229"/>
            <a:ext cx="254000" cy="254000"/>
          </a:xfrm>
          <a:prstGeom prst="rect">
            <a:avLst/>
          </a:prstGeom>
        </p:spPr>
      </p:pic>
      <p:sp>
        <p:nvSpPr>
          <p:cNvPr id="7" name="Text 4"/>
          <p:cNvSpPr/>
          <p:nvPr/>
        </p:nvSpPr>
        <p:spPr>
          <a:xfrm>
            <a:off x="1028700" y="1559322"/>
            <a:ext cx="182324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Today: reactive</a:t>
            </a:r>
            <a:endParaRPr lang="en-US" sz="1600" dirty="0"/>
          </a:p>
        </p:txBody>
      </p:sp>
      <p:sp>
        <p:nvSpPr>
          <p:cNvPr id="8" name="Text 5"/>
          <p:cNvSpPr/>
          <p:nvPr/>
        </p:nvSpPr>
        <p:spPr>
          <a:xfrm>
            <a:off x="685800" y="1873713"/>
            <a:ext cx="2903982" cy="192881"/>
          </a:xfrm>
          <a:prstGeom prst="rect">
            <a:avLst/>
          </a:prstGeom>
          <a:noFill/>
          <a:ln/>
        </p:spPr>
        <p:txBody>
          <a:bodyPr wrap="square" lIns="0" tIns="0" rIns="0" bIns="0" rtlCol="0" anchor="t">
            <a:normAutofit/>
          </a:bodyPr>
          <a:lstStyle/>
          <a:p>
            <a:pPr algn="l" indent="0" marL="0">
              <a:lnSpc>
                <a:spcPts val="1323"/>
              </a:lnSpc>
              <a:buNone/>
            </a:pPr>
            <a:r>
              <a:rPr lang="en-US" sz="1103" b="1" dirty="0">
                <a:solidFill>
                  <a:srgbClr val="C2500F"/>
                </a:solidFill>
                <a:latin typeface="DM Sans" pitchFamily="34" charset="0"/>
                <a:ea typeface="DM Sans" pitchFamily="34" charset="-122"/>
                <a:cs typeface="DM Sans" pitchFamily="34" charset="-120"/>
              </a:rPr>
              <a:t>What reporting shows</a:t>
            </a:r>
            <a:endParaRPr lang="en-US" sz="1103" dirty="0"/>
          </a:p>
        </p:txBody>
      </p:sp>
      <p:sp>
        <p:nvSpPr>
          <p:cNvPr id="9" name="Text 6"/>
          <p:cNvSpPr/>
          <p:nvPr/>
        </p:nvSpPr>
        <p:spPr>
          <a:xfrm>
            <a:off x="784635" y="2117394"/>
            <a:ext cx="2797527" cy="1246717"/>
          </a:xfrm>
          <a:prstGeom prst="rect">
            <a:avLst/>
          </a:prstGeom>
          <a:noFill/>
          <a:ln/>
        </p:spPr>
        <p:txBody>
          <a:bodyPr wrap="square" lIns="0" tIns="0" rIns="0" bIns="0" rtlCol="0" anchor="t">
            <a:normAutofit/>
          </a:bodyPr>
          <a:lstStyle/>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Rising ER visits and readmissions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Chronic condition management challenges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Missed appointments and care gaps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High outreach costs</a:t>
            </a:r>
            <a:endParaRPr lang="en-US" sz="1196" dirty="0"/>
          </a:p>
          <a:p>
            <a:pPr algn="l" marL="155165" indent="-155165">
              <a:lnSpc>
                <a:spcPts val="1495"/>
              </a:lnSpc>
              <a:buSzPct val="100000"/>
              <a:buChar char="•"/>
            </a:pPr>
            <a:r>
              <a:rPr lang="en-US" sz="1196" dirty="0">
                <a:solidFill>
                  <a:srgbClr val="3B4660"/>
                </a:solidFill>
                <a:latin typeface="DM Sans" pitchFamily="34" charset="0"/>
                <a:ea typeface="DM Sans" pitchFamily="34" charset="-122"/>
                <a:cs typeface="DM Sans" pitchFamily="34" charset="-120"/>
              </a:rPr>
              <a:t>Manual root-cause investigation</a:t>
            </a:r>
            <a:endParaRPr lang="en-US" sz="1196" dirty="0"/>
          </a:p>
        </p:txBody>
      </p:sp>
      <p:sp>
        <p:nvSpPr>
          <p:cNvPr id="10" name="Text 7"/>
          <p:cNvSpPr/>
          <p:nvPr/>
        </p:nvSpPr>
        <p:spPr>
          <a:xfrm>
            <a:off x="685800" y="3414911"/>
            <a:ext cx="2903982" cy="192881"/>
          </a:xfrm>
          <a:prstGeom prst="rect">
            <a:avLst/>
          </a:prstGeom>
          <a:noFill/>
          <a:ln/>
        </p:spPr>
        <p:txBody>
          <a:bodyPr wrap="square" lIns="0" tIns="0" rIns="0" bIns="0" rtlCol="0" anchor="t">
            <a:normAutofit/>
          </a:bodyPr>
          <a:lstStyle/>
          <a:p>
            <a:pPr algn="l" indent="0" marL="0">
              <a:lnSpc>
                <a:spcPts val="1323"/>
              </a:lnSpc>
              <a:buNone/>
            </a:pPr>
            <a:r>
              <a:rPr lang="en-US" sz="1103" b="1" dirty="0">
                <a:solidFill>
                  <a:srgbClr val="C2500F"/>
                </a:solidFill>
                <a:latin typeface="DM Sans" pitchFamily="34" charset="0"/>
                <a:ea typeface="DM Sans" pitchFamily="34" charset="-122"/>
                <a:cs typeface="DM Sans" pitchFamily="34" charset="-120"/>
              </a:rPr>
              <a:t>What stays invisible</a:t>
            </a:r>
            <a:endParaRPr lang="en-US" sz="1103" dirty="0"/>
          </a:p>
        </p:txBody>
      </p:sp>
      <p:sp>
        <p:nvSpPr>
          <p:cNvPr id="11" name="Text 8"/>
          <p:cNvSpPr/>
          <p:nvPr/>
        </p:nvSpPr>
        <p:spPr>
          <a:xfrm>
            <a:off x="685800" y="3658592"/>
            <a:ext cx="1297451"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Food insecurity</a:t>
            </a:r>
            <a:endParaRPr lang="en-US" sz="1200" dirty="0"/>
          </a:p>
        </p:txBody>
      </p:sp>
      <p:sp>
        <p:nvSpPr>
          <p:cNvPr id="12" name="Text 9"/>
          <p:cNvSpPr/>
          <p:nvPr/>
        </p:nvSpPr>
        <p:spPr>
          <a:xfrm>
            <a:off x="685800" y="3993819"/>
            <a:ext cx="1497740"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Housing instability</a:t>
            </a:r>
            <a:endParaRPr lang="en-US" sz="1200" dirty="0"/>
          </a:p>
        </p:txBody>
      </p:sp>
      <p:sp>
        <p:nvSpPr>
          <p:cNvPr id="13" name="Text 10"/>
          <p:cNvSpPr/>
          <p:nvPr/>
        </p:nvSpPr>
        <p:spPr>
          <a:xfrm>
            <a:off x="685800" y="4329047"/>
            <a:ext cx="1827808"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Transportation barriers</a:t>
            </a:r>
            <a:endParaRPr lang="en-US" sz="1200" dirty="0"/>
          </a:p>
        </p:txBody>
      </p:sp>
      <p:sp>
        <p:nvSpPr>
          <p:cNvPr id="14" name="Text 11"/>
          <p:cNvSpPr/>
          <p:nvPr/>
        </p:nvSpPr>
        <p:spPr>
          <a:xfrm>
            <a:off x="685800" y="4664273"/>
            <a:ext cx="1476110"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Financial hardship</a:t>
            </a:r>
            <a:endParaRPr lang="en-US" sz="1200" dirty="0"/>
          </a:p>
        </p:txBody>
      </p:sp>
      <p:sp>
        <p:nvSpPr>
          <p:cNvPr id="15" name="Text 12"/>
          <p:cNvSpPr/>
          <p:nvPr/>
        </p:nvSpPr>
        <p:spPr>
          <a:xfrm>
            <a:off x="2212710" y="4664273"/>
            <a:ext cx="1255580" cy="284427"/>
          </a:xfrm>
          <a:prstGeom prst="roundRect">
            <a:avLst>
              <a:gd name="adj" fmla="val 50000"/>
            </a:avLst>
          </a:prstGeom>
          <a:solidFill>
            <a:srgbClr val="F6E3D6"/>
          </a:solidFill>
          <a:ln/>
        </p:spPr>
        <p:txBody>
          <a:bodyPr wrap="none" lIns="0" tIns="0" rIns="0" bIns="0" rtlCol="0" anchor="ctr">
            <a:normAutofit/>
          </a:bodyPr>
          <a:lstStyle/>
          <a:p>
            <a:pPr algn="ctr" indent="0" marL="0">
              <a:lnSpc>
                <a:spcPts val="1440"/>
              </a:lnSpc>
              <a:buNone/>
            </a:pPr>
            <a:r>
              <a:rPr lang="en-US" sz="1200" dirty="0">
                <a:solidFill>
                  <a:srgbClr val="14213D"/>
                </a:solidFill>
                <a:latin typeface="DM Sans" pitchFamily="34" charset="0"/>
                <a:ea typeface="DM Sans" pitchFamily="34" charset="-122"/>
                <a:cs typeface="DM Sans" pitchFamily="34" charset="-120"/>
              </a:rPr>
              <a:t>Social isolation</a:t>
            </a:r>
            <a:endParaRPr lang="en-US" sz="1200" dirty="0"/>
          </a:p>
        </p:txBody>
      </p:sp>
      <p:sp>
        <p:nvSpPr>
          <p:cNvPr id="16" name="Shape 13"/>
          <p:cNvSpPr/>
          <p:nvPr/>
        </p:nvSpPr>
        <p:spPr>
          <a:xfrm>
            <a:off x="704850" y="4992622"/>
            <a:ext cx="0" cy="599612"/>
          </a:xfrm>
          <a:prstGeom prst="line">
            <a:avLst/>
          </a:prstGeom>
          <a:noFill/>
          <a:ln w="38100">
            <a:solidFill>
              <a:srgbClr val="C2500F"/>
            </a:solidFill>
            <a:prstDash val="solid"/>
          </a:ln>
        </p:spPr>
      </p:sp>
      <p:sp>
        <p:nvSpPr>
          <p:cNvPr id="17" name="Text 14"/>
          <p:cNvSpPr/>
          <p:nvPr/>
        </p:nvSpPr>
        <p:spPr>
          <a:xfrm>
            <a:off x="825500" y="5030722"/>
            <a:ext cx="2760091" cy="548812"/>
          </a:xfrm>
          <a:prstGeom prst="rect">
            <a:avLst/>
          </a:prstGeom>
          <a:noFill/>
          <a:ln/>
        </p:spPr>
        <p:txBody>
          <a:bodyPr wrap="square" lIns="0" tIns="0" rIns="0" bIns="0" rtlCol="0" anchor="t">
            <a:normAutofit/>
          </a:bodyPr>
          <a:lstStyle/>
          <a:p>
            <a:pPr algn="l" indent="0" marL="0">
              <a:lnSpc>
                <a:spcPts val="1486"/>
              </a:lnSpc>
              <a:buNone/>
            </a:pPr>
            <a:r>
              <a:rPr lang="en-US" sz="1189" b="1" dirty="0">
                <a:solidFill>
                  <a:srgbClr val="14213D"/>
                </a:solidFill>
                <a:latin typeface="DM Sans" pitchFamily="34" charset="0"/>
                <a:ea typeface="DM Sans" pitchFamily="34" charset="-122"/>
                <a:cs typeface="DM Sans" pitchFamily="34" charset="-120"/>
              </a:rPr>
              <a:t>Result:</a:t>
            </a:r>
            <a:r>
              <a:rPr lang="en-US" sz="1189" dirty="0">
                <a:solidFill>
                  <a:srgbClr val="14213D"/>
                </a:solidFill>
                <a:latin typeface="DM Sans" pitchFamily="34" charset="0"/>
                <a:ea typeface="DM Sans" pitchFamily="34" charset="-122"/>
                <a:cs typeface="DM Sans" pitchFamily="34" charset="-120"/>
              </a:rPr>
              <a:t> interventions start after health outcomes have already deteriorated.</a:t>
            </a:r>
            <a:endParaRPr lang="en-US" sz="1189" dirty="0"/>
          </a:p>
        </p:txBody>
      </p:sp>
      <p:pic>
        <p:nvPicPr>
          <p:cNvPr id="18" name="Image 1" descr="arrow-right">    </p:cNvPr>
          <p:cNvPicPr>
            <a:picLocks noChangeAspect="1"/>
          </p:cNvPicPr>
          <p:nvPr/>
        </p:nvPicPr>
        <p:blipFill>
          <a:blip r:embed="rId2"/>
          <a:srcRect l="0" r="0" t="0" b="0"/>
          <a:stretch/>
        </p:blipFill>
        <p:spPr>
          <a:xfrm>
            <a:off x="3810000" y="3426156"/>
            <a:ext cx="254000" cy="254000"/>
          </a:xfrm>
          <a:prstGeom prst="rect">
            <a:avLst/>
          </a:prstGeom>
        </p:spPr>
      </p:pic>
      <p:sp>
        <p:nvSpPr>
          <p:cNvPr id="19" name="Shape 15"/>
          <p:cNvSpPr/>
          <p:nvPr/>
        </p:nvSpPr>
        <p:spPr>
          <a:xfrm>
            <a:off x="4191000" y="1361678"/>
            <a:ext cx="4572000" cy="4382955"/>
          </a:xfrm>
          <a:prstGeom prst="roundRect">
            <a:avLst>
              <a:gd name="adj" fmla="val 2898"/>
            </a:avLst>
          </a:prstGeom>
          <a:solidFill>
            <a:srgbClr val="14213D"/>
          </a:solidFill>
          <a:ln/>
        </p:spPr>
      </p:sp>
      <p:sp>
        <p:nvSpPr>
          <p:cNvPr id="20" name="Shape 16"/>
          <p:cNvSpPr/>
          <p:nvPr/>
        </p:nvSpPr>
        <p:spPr>
          <a:xfrm>
            <a:off x="4191000" y="1361678"/>
            <a:ext cx="4572000" cy="4382955"/>
          </a:xfrm>
          <a:custGeom>
            <a:avLst/>
            <a:gdLst/>
            <a:ahLst/>
            <a:cxnLst/>
            <a:rect l="l" t="t" r="r" b="b"/>
            <a:pathLst>
              <a:path w="4572000" h="4382955">
                <a:moveTo>
                  <a:pt x="0" y="127000"/>
                </a:moveTo>
                <a:lnTo>
                  <a:pt x="0" y="127000"/>
                </a:lnTo>
                <a:arcTo hR="127000" wR="127000" stAng="10800000" swAng="5400000"/>
                <a:lnTo>
                  <a:pt x="4445000" y="0"/>
                </a:lnTo>
                <a:arcTo hR="127000" wR="127000" stAng="16200000" swAng="5400000"/>
                <a:lnTo>
                  <a:pt x="4572000" y="127000"/>
                </a:lnTo>
                <a:arcTo hR="76200" wR="127000" stAng="0" swAng="-5400000"/>
                <a:lnTo>
                  <a:pt x="127000" y="50800"/>
                </a:lnTo>
                <a:arcTo hR="76200" wR="127000" stAng="16200000" swAng="-5400000"/>
                <a:close/>
              </a:path>
            </a:pathLst>
          </a:custGeom>
          <a:solidFill>
            <a:srgbClr val="F2A66B"/>
          </a:solidFill>
          <a:ln/>
        </p:spPr>
      </p:sp>
      <p:pic>
        <p:nvPicPr>
          <p:cNvPr id="21" name="Image 2" descr="Lightbulb">    </p:cNvPr>
          <p:cNvPicPr>
            <a:picLocks noChangeAspect="1"/>
          </p:cNvPicPr>
          <p:nvPr/>
        </p:nvPicPr>
        <p:blipFill>
          <a:blip r:embed="rId3"/>
          <a:srcRect l="0" r="0" t="0" b="0"/>
          <a:stretch/>
        </p:blipFill>
        <p:spPr>
          <a:xfrm>
            <a:off x="4368800" y="1556015"/>
            <a:ext cx="254000" cy="254000"/>
          </a:xfrm>
          <a:prstGeom prst="rect">
            <a:avLst/>
          </a:prstGeom>
        </p:spPr>
      </p:pic>
      <p:sp>
        <p:nvSpPr>
          <p:cNvPr id="22" name="Text 17"/>
          <p:cNvSpPr/>
          <p:nvPr/>
        </p:nvSpPr>
        <p:spPr>
          <a:xfrm>
            <a:off x="4711700" y="1561108"/>
            <a:ext cx="305395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DM Sans" pitchFamily="34" charset="0"/>
                <a:ea typeface="DM Sans" pitchFamily="34" charset="-122"/>
                <a:cs typeface="DM Sans" pitchFamily="34" charset="-120"/>
              </a:rPr>
              <a:t>SDOH.ai intelligence layer</a:t>
            </a:r>
            <a:endParaRPr lang="en-US" sz="1600" dirty="0"/>
          </a:p>
        </p:txBody>
      </p:sp>
      <p:sp>
        <p:nvSpPr>
          <p:cNvPr id="23" name="Text 18"/>
          <p:cNvSpPr/>
          <p:nvPr/>
        </p:nvSpPr>
        <p:spPr>
          <a:xfrm>
            <a:off x="4368800" y="1877285"/>
            <a:ext cx="4342892" cy="556882"/>
          </a:xfrm>
          <a:prstGeom prst="rect">
            <a:avLst/>
          </a:prstGeom>
          <a:noFill/>
          <a:ln/>
        </p:spPr>
        <p:txBody>
          <a:bodyPr wrap="square" lIns="0" tIns="0" rIns="0" bIns="0" rtlCol="0" anchor="t">
            <a:normAutofit/>
          </a:bodyPr>
          <a:lstStyle/>
          <a:p>
            <a:pPr algn="l" indent="0" marL="0">
              <a:lnSpc>
                <a:spcPts val="1406"/>
              </a:lnSpc>
              <a:buNone/>
            </a:pPr>
            <a:r>
              <a:rPr lang="en-US" sz="1125" b="1" dirty="0">
                <a:solidFill>
                  <a:srgbClr val="F6F4EF"/>
                </a:solidFill>
                <a:latin typeface="DM Sans" pitchFamily="34" charset="0"/>
                <a:ea typeface="DM Sans" pitchFamily="34" charset="-122"/>
                <a:cs typeface="DM Sans" pitchFamily="34" charset="-120"/>
              </a:rPr>
              <a:t>Works with your existing reporting:</a:t>
            </a:r>
            <a:r>
              <a:rPr lang="en-US" sz="1125" dirty="0">
                <a:solidFill>
                  <a:srgbClr val="B9C3D9"/>
                </a:solidFill>
                <a:latin typeface="DM Sans" pitchFamily="34" charset="0"/>
                <a:ea typeface="DM Sans" pitchFamily="34" charset="-122"/>
                <a:cs typeface="DM Sans" pitchFamily="34" charset="-120"/>
              </a:rPr>
              <a:t> utilization dashboards, Quality &amp; Stars, clinical risk monitoring, population health analytics.</a:t>
            </a:r>
            <a:endParaRPr lang="en-US" sz="1125" dirty="0"/>
          </a:p>
        </p:txBody>
      </p:sp>
      <p:sp>
        <p:nvSpPr>
          <p:cNvPr id="24" name="Text 19"/>
          <p:cNvSpPr/>
          <p:nvPr/>
        </p:nvSpPr>
        <p:spPr>
          <a:xfrm>
            <a:off x="4368800" y="2484967"/>
            <a:ext cx="4342892" cy="195395"/>
          </a:xfrm>
          <a:prstGeom prst="rect">
            <a:avLst/>
          </a:prstGeom>
          <a:noFill/>
          <a:ln/>
        </p:spPr>
        <p:txBody>
          <a:bodyPr wrap="square" lIns="0" tIns="0" rIns="0" bIns="0" rtlCol="0" anchor="t">
            <a:normAutofit/>
          </a:bodyPr>
          <a:lstStyle/>
          <a:p>
            <a:pPr algn="l" indent="0" marL="0">
              <a:lnSpc>
                <a:spcPts val="1373"/>
              </a:lnSpc>
              <a:buNone/>
            </a:pPr>
            <a:r>
              <a:rPr lang="en-US" sz="1144" b="1" dirty="0">
                <a:solidFill>
                  <a:srgbClr val="F2A66B"/>
                </a:solidFill>
                <a:latin typeface="DM Sans" pitchFamily="34" charset="0"/>
                <a:ea typeface="DM Sans" pitchFamily="34" charset="-122"/>
                <a:cs typeface="DM Sans" pitchFamily="34" charset="-120"/>
              </a:rPr>
              <a:t>What SDOH.ai adds</a:t>
            </a:r>
            <a:endParaRPr lang="en-US" sz="1144" dirty="0"/>
          </a:p>
        </p:txBody>
      </p:sp>
      <p:sp>
        <p:nvSpPr>
          <p:cNvPr id="25" name="Text 20"/>
          <p:cNvSpPr/>
          <p:nvPr/>
        </p:nvSpPr>
        <p:spPr>
          <a:xfrm>
            <a:off x="4467525" y="2731162"/>
            <a:ext cx="4236547" cy="1368822"/>
          </a:xfrm>
          <a:prstGeom prst="rect">
            <a:avLst/>
          </a:prstGeom>
          <a:noFill/>
          <a:ln/>
        </p:spPr>
        <p:txBody>
          <a:bodyPr wrap="square" lIns="0" tIns="0" rIns="0" bIns="0" rtlCol="0" anchor="t">
            <a:normAutofit/>
          </a:bodyPr>
          <a:lstStyle/>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Combine claims, clinical and SDOH data</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Correlate clinical outcomes with social factors</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Identify root causes of poor outcomes</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Tier members by risk before costly events</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Recommend Next Best Actions for care manager approval</a:t>
            </a:r>
            <a:endParaRPr lang="en-US" sz="1211" dirty="0"/>
          </a:p>
          <a:p>
            <a:pPr algn="l" marL="155275" indent="-155275">
              <a:lnSpc>
                <a:spcPts val="1513"/>
              </a:lnSpc>
              <a:buSzPct val="100000"/>
              <a:buChar char="•"/>
            </a:pPr>
            <a:r>
              <a:rPr lang="en-US" sz="1211" dirty="0">
                <a:solidFill>
                  <a:srgbClr val="F6F4EF"/>
                </a:solidFill>
                <a:latin typeface="DM Sans" pitchFamily="34" charset="0"/>
                <a:ea typeface="DM Sans" pitchFamily="34" charset="-122"/>
                <a:cs typeface="DM Sans" pitchFamily="34" charset="-120"/>
              </a:rPr>
              <a:t>Generate AI narratives for care managers</a:t>
            </a:r>
            <a:endParaRPr lang="en-US" sz="1211" dirty="0"/>
          </a:p>
        </p:txBody>
      </p:sp>
      <p:sp>
        <p:nvSpPr>
          <p:cNvPr id="26" name="Shape 21"/>
          <p:cNvSpPr/>
          <p:nvPr/>
        </p:nvSpPr>
        <p:spPr>
          <a:xfrm>
            <a:off x="4368800" y="4226983"/>
            <a:ext cx="4216400" cy="1365250"/>
          </a:xfrm>
          <a:prstGeom prst="roundRect">
            <a:avLst>
              <a:gd name="adj" fmla="val 6512"/>
            </a:avLst>
          </a:prstGeom>
          <a:solidFill>
            <a:srgbClr val="22335E"/>
          </a:solidFill>
          <a:ln/>
        </p:spPr>
      </p:sp>
      <p:sp>
        <p:nvSpPr>
          <p:cNvPr id="27" name="Shape 22"/>
          <p:cNvSpPr/>
          <p:nvPr/>
        </p:nvSpPr>
        <p:spPr>
          <a:xfrm>
            <a:off x="4368800" y="4226983"/>
            <a:ext cx="4216400" cy="1365250"/>
          </a:xfrm>
          <a:custGeom>
            <a:avLst/>
            <a:gdLst/>
            <a:ahLst/>
            <a:cxnLst/>
            <a:rect l="l" t="t" r="r" b="b"/>
            <a:pathLst>
              <a:path w="4216400" h="1365250">
                <a:moveTo>
                  <a:pt x="88900" y="1365250"/>
                </a:moveTo>
                <a:lnTo>
                  <a:pt x="88900" y="1365250"/>
                </a:lnTo>
                <a:arcTo hR="88900" wR="88900" stAng="5400000" swAng="5400000"/>
                <a:lnTo>
                  <a:pt x="0" y="88900"/>
                </a:lnTo>
                <a:arcTo hR="88900" wR="88900" stAng="10800000" swAng="5400000"/>
                <a:lnTo>
                  <a:pt x="88900" y="0"/>
                </a:lnTo>
                <a:arcTo hR="88900" wR="50800" stAng="16200000" swAng="-5400000"/>
                <a:lnTo>
                  <a:pt x="38100" y="1276350"/>
                </a:lnTo>
                <a:arcTo hR="88900" wR="50800" stAng="10800000" swAng="-5400000"/>
                <a:close/>
              </a:path>
            </a:pathLst>
          </a:custGeom>
          <a:solidFill>
            <a:srgbClr val="F2A66B"/>
          </a:solidFill>
          <a:ln/>
        </p:spPr>
      </p:sp>
      <p:sp>
        <p:nvSpPr>
          <p:cNvPr id="28" name="Text 23"/>
          <p:cNvSpPr/>
          <p:nvPr/>
        </p:nvSpPr>
        <p:spPr>
          <a:xfrm>
            <a:off x="4533900" y="4328583"/>
            <a:ext cx="4042029" cy="194072"/>
          </a:xfrm>
          <a:prstGeom prst="rect">
            <a:avLst/>
          </a:prstGeom>
          <a:noFill/>
          <a:ln/>
        </p:spPr>
        <p:txBody>
          <a:bodyPr wrap="square" lIns="0" tIns="0" rIns="0" bIns="0" rtlCol="0" anchor="t">
            <a:normAutofit/>
          </a:bodyPr>
          <a:lstStyle/>
          <a:p>
            <a:pPr algn="l" indent="0" marL="0">
              <a:lnSpc>
                <a:spcPts val="1373"/>
              </a:lnSpc>
              <a:buNone/>
            </a:pPr>
            <a:r>
              <a:rPr lang="en-US" sz="1144" b="1" dirty="0">
                <a:solidFill>
                  <a:srgbClr val="F2A66B"/>
                </a:solidFill>
                <a:latin typeface="DM Sans" pitchFamily="34" charset="0"/>
                <a:ea typeface="DM Sans" pitchFamily="34" charset="-122"/>
                <a:cs typeface="DM Sans" pitchFamily="34" charset="-120"/>
              </a:rPr>
              <a:t>Example insight (illustrative)</a:t>
            </a:r>
            <a:endParaRPr lang="en-US" sz="1144" dirty="0"/>
          </a:p>
        </p:txBody>
      </p:sp>
      <p:sp>
        <p:nvSpPr>
          <p:cNvPr id="29" name="Text 24"/>
          <p:cNvSpPr/>
          <p:nvPr/>
        </p:nvSpPr>
        <p:spPr>
          <a:xfrm>
            <a:off x="4533900" y="4535355"/>
            <a:ext cx="4042029" cy="201216"/>
          </a:xfrm>
          <a:prstGeom prst="rect">
            <a:avLst/>
          </a:prstGeom>
          <a:noFill/>
          <a:ln/>
        </p:spPr>
        <p:txBody>
          <a:bodyPr wrap="square" lIns="0" tIns="0" rIns="0" bIns="0" rtlCol="0" anchor="t">
            <a:normAutofit/>
          </a:bodyPr>
          <a:lstStyle/>
          <a:p>
            <a:pPr algn="l" indent="0" marL="0">
              <a:lnSpc>
                <a:spcPts val="1420"/>
              </a:lnSpc>
              <a:buNone/>
            </a:pPr>
            <a:r>
              <a:rPr lang="en-US" sz="1136" dirty="0">
                <a:solidFill>
                  <a:srgbClr val="F6F4EF"/>
                </a:solidFill>
                <a:latin typeface="DM Sans" pitchFamily="34" charset="0"/>
                <a:ea typeface="DM Sans" pitchFamily="34" charset="-122"/>
                <a:cs typeface="DM Sans" pitchFamily="34" charset="-120"/>
              </a:rPr>
              <a:t>Repeated ER visits, uncontrolled diabetes.</a:t>
            </a:r>
            <a:endParaRPr lang="en-US" sz="1136" dirty="0"/>
          </a:p>
        </p:txBody>
      </p:sp>
      <p:sp>
        <p:nvSpPr>
          <p:cNvPr id="30" name="Text 25"/>
          <p:cNvSpPr/>
          <p:nvPr/>
        </p:nvSpPr>
        <p:spPr>
          <a:xfrm>
            <a:off x="4533900" y="4749271"/>
            <a:ext cx="4042029" cy="377031"/>
          </a:xfrm>
          <a:prstGeom prst="rect">
            <a:avLst/>
          </a:prstGeom>
          <a:noFill/>
          <a:ln/>
        </p:spPr>
        <p:txBody>
          <a:bodyPr wrap="square" lIns="0" tIns="0" rIns="0" bIns="0" rtlCol="0" anchor="t">
            <a:normAutofit/>
          </a:bodyPr>
          <a:lstStyle/>
          <a:p>
            <a:pPr algn="l" indent="0" marL="0">
              <a:lnSpc>
                <a:spcPts val="1388"/>
              </a:lnSpc>
              <a:buNone/>
            </a:pPr>
            <a:r>
              <a:rPr lang="en-US" sz="1110" b="1" dirty="0">
                <a:solidFill>
                  <a:srgbClr val="F6F4EF"/>
                </a:solidFill>
                <a:latin typeface="DM Sans" pitchFamily="34" charset="0"/>
                <a:ea typeface="DM Sans" pitchFamily="34" charset="-122"/>
                <a:cs typeface="DM Sans" pitchFamily="34" charset="-120"/>
              </a:rPr>
              <a:t>Drivers:</a:t>
            </a:r>
            <a:r>
              <a:rPr lang="en-US" sz="1110" dirty="0">
                <a:solidFill>
                  <a:srgbClr val="F6F4EF"/>
                </a:solidFill>
                <a:latin typeface="DM Sans" pitchFamily="34" charset="0"/>
                <a:ea typeface="DM Sans" pitchFamily="34" charset="-122"/>
                <a:cs typeface="DM Sans" pitchFamily="34" charset="-120"/>
              </a:rPr>
              <a:t> Food Insecurity (0.78) + Transportation Barrier (0.71).</a:t>
            </a:r>
            <a:endParaRPr lang="en-US" sz="1110" dirty="0"/>
          </a:p>
        </p:txBody>
      </p:sp>
      <p:sp>
        <p:nvSpPr>
          <p:cNvPr id="31" name="Text 26"/>
          <p:cNvSpPr/>
          <p:nvPr/>
        </p:nvSpPr>
        <p:spPr>
          <a:xfrm>
            <a:off x="4533900" y="5139002"/>
            <a:ext cx="4042029" cy="377031"/>
          </a:xfrm>
          <a:prstGeom prst="rect">
            <a:avLst/>
          </a:prstGeom>
          <a:noFill/>
          <a:ln/>
        </p:spPr>
        <p:txBody>
          <a:bodyPr wrap="square" lIns="0" tIns="0" rIns="0" bIns="0" rtlCol="0" anchor="t">
            <a:normAutofit/>
          </a:bodyPr>
          <a:lstStyle/>
          <a:p>
            <a:pPr algn="l" indent="0" marL="0">
              <a:lnSpc>
                <a:spcPts val="1388"/>
              </a:lnSpc>
              <a:buNone/>
            </a:pPr>
            <a:r>
              <a:rPr lang="en-US" sz="1110" b="1" dirty="0">
                <a:solidFill>
                  <a:srgbClr val="F6F4EF"/>
                </a:solidFill>
                <a:latin typeface="DM Sans" pitchFamily="34" charset="0"/>
                <a:ea typeface="DM Sans" pitchFamily="34" charset="-122"/>
                <a:cs typeface="DM Sans" pitchFamily="34" charset="-120"/>
              </a:rPr>
              <a:t>Action:</a:t>
            </a:r>
            <a:r>
              <a:rPr lang="en-US" sz="1110" dirty="0">
                <a:solidFill>
                  <a:srgbClr val="F6F4EF"/>
                </a:solidFill>
                <a:latin typeface="DM Sans" pitchFamily="34" charset="0"/>
                <a:ea typeface="DM Sans" pitchFamily="34" charset="-122"/>
                <a:cs typeface="DM Sans" pitchFamily="34" charset="-120"/>
              </a:rPr>
              <a:t> SNAP enrollment + transportation assistance + PCP follow-up.</a:t>
            </a:r>
            <a:endParaRPr lang="en-US" sz="1110" dirty="0"/>
          </a:p>
        </p:txBody>
      </p:sp>
      <p:pic>
        <p:nvPicPr>
          <p:cNvPr id="32" name="Image 3" descr="arrow-right">    </p:cNvPr>
          <p:cNvPicPr>
            <a:picLocks noChangeAspect="1"/>
          </p:cNvPicPr>
          <p:nvPr/>
        </p:nvPicPr>
        <p:blipFill>
          <a:blip r:embed="rId4"/>
          <a:srcRect l="0" r="0" t="0" b="0"/>
          <a:stretch/>
        </p:blipFill>
        <p:spPr>
          <a:xfrm>
            <a:off x="8890000" y="3426156"/>
            <a:ext cx="254000" cy="254000"/>
          </a:xfrm>
          <a:prstGeom prst="rect">
            <a:avLst/>
          </a:prstGeom>
        </p:spPr>
      </p:pic>
      <p:sp>
        <p:nvSpPr>
          <p:cNvPr id="33" name="Shape 27"/>
          <p:cNvSpPr/>
          <p:nvPr/>
        </p:nvSpPr>
        <p:spPr>
          <a:xfrm>
            <a:off x="9271000" y="1361678"/>
            <a:ext cx="2413000" cy="4382955"/>
          </a:xfrm>
          <a:prstGeom prst="roundRect">
            <a:avLst>
              <a:gd name="adj" fmla="val 5263"/>
            </a:avLst>
          </a:prstGeom>
          <a:solidFill>
            <a:srgbClr val="FFFFFF"/>
          </a:solidFill>
          <a:ln/>
        </p:spPr>
      </p:sp>
      <p:sp>
        <p:nvSpPr>
          <p:cNvPr id="34" name="Shape 28"/>
          <p:cNvSpPr/>
          <p:nvPr/>
        </p:nvSpPr>
        <p:spPr>
          <a:xfrm>
            <a:off x="9271000" y="1361678"/>
            <a:ext cx="2413000" cy="4382955"/>
          </a:xfrm>
          <a:custGeom>
            <a:avLst/>
            <a:gdLst/>
            <a:ahLst/>
            <a:cxnLst/>
            <a:rect l="l" t="t" r="r" b="b"/>
            <a:pathLst>
              <a:path w="2413000" h="4382955">
                <a:moveTo>
                  <a:pt x="0" y="127000"/>
                </a:moveTo>
                <a:lnTo>
                  <a:pt x="0" y="127000"/>
                </a:lnTo>
                <a:arcTo hR="127000" wR="127000" stAng="10800000" swAng="5400000"/>
                <a:lnTo>
                  <a:pt x="2286000" y="0"/>
                </a:lnTo>
                <a:arcTo hR="127000" wR="127000" stAng="16200000" swAng="5400000"/>
                <a:lnTo>
                  <a:pt x="2413000" y="127000"/>
                </a:lnTo>
                <a:arcTo hR="76200" wR="127000" stAng="0" swAng="-5400000"/>
                <a:lnTo>
                  <a:pt x="127000" y="50800"/>
                </a:lnTo>
                <a:arcTo hR="76200" wR="127000" stAng="16200000" swAng="-5400000"/>
                <a:close/>
              </a:path>
            </a:pathLst>
          </a:custGeom>
          <a:solidFill>
            <a:srgbClr val="14213D"/>
          </a:solidFill>
          <a:ln/>
        </p:spPr>
      </p:sp>
      <p:pic>
        <p:nvPicPr>
          <p:cNvPr id="35" name="Image 4" descr="Verified">    </p:cNvPr>
          <p:cNvPicPr>
            <a:picLocks noChangeAspect="1"/>
          </p:cNvPicPr>
          <p:nvPr/>
        </p:nvPicPr>
        <p:blipFill>
          <a:blip r:embed="rId5"/>
          <a:srcRect l="0" r="0" t="0" b="0"/>
          <a:stretch/>
        </p:blipFill>
        <p:spPr>
          <a:xfrm>
            <a:off x="9448800" y="1553369"/>
            <a:ext cx="254000" cy="254000"/>
          </a:xfrm>
          <a:prstGeom prst="rect">
            <a:avLst/>
          </a:prstGeom>
        </p:spPr>
      </p:pic>
      <p:sp>
        <p:nvSpPr>
          <p:cNvPr id="36" name="Text 29"/>
          <p:cNvSpPr/>
          <p:nvPr/>
        </p:nvSpPr>
        <p:spPr>
          <a:xfrm>
            <a:off x="9791700" y="1558462"/>
            <a:ext cx="175148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Business value</a:t>
            </a:r>
            <a:endParaRPr lang="en-US" sz="1600" dirty="0"/>
          </a:p>
        </p:txBody>
      </p:sp>
      <p:sp>
        <p:nvSpPr>
          <p:cNvPr id="37" name="Shape 30"/>
          <p:cNvSpPr/>
          <p:nvPr/>
        </p:nvSpPr>
        <p:spPr>
          <a:xfrm>
            <a:off x="9467850" y="1872059"/>
            <a:ext cx="0" cy="524206"/>
          </a:xfrm>
          <a:prstGeom prst="line">
            <a:avLst/>
          </a:prstGeom>
          <a:noFill/>
          <a:ln w="38100">
            <a:solidFill>
              <a:srgbClr val="C2500F"/>
            </a:solidFill>
            <a:prstDash val="solid"/>
          </a:ln>
        </p:spPr>
      </p:sp>
      <p:sp>
        <p:nvSpPr>
          <p:cNvPr id="38" name="Text 31"/>
          <p:cNvSpPr/>
          <p:nvPr/>
        </p:nvSpPr>
        <p:spPr>
          <a:xfrm>
            <a:off x="9575800" y="1872059"/>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Root cause visibility</a:t>
            </a:r>
            <a:endParaRPr lang="en-US" sz="1186" dirty="0"/>
          </a:p>
        </p:txBody>
      </p:sp>
      <p:sp>
        <p:nvSpPr>
          <p:cNvPr id="39" name="Text 32"/>
          <p:cNvSpPr/>
          <p:nvPr/>
        </p:nvSpPr>
        <p:spPr>
          <a:xfrm>
            <a:off x="9575800" y="2064478"/>
            <a:ext cx="1988312" cy="357188"/>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Understand why outcomes occur.</a:t>
            </a:r>
            <a:endParaRPr lang="en-US" sz="1091" dirty="0"/>
          </a:p>
        </p:txBody>
      </p:sp>
      <p:sp>
        <p:nvSpPr>
          <p:cNvPr id="40" name="Shape 33"/>
          <p:cNvSpPr/>
          <p:nvPr/>
        </p:nvSpPr>
        <p:spPr>
          <a:xfrm>
            <a:off x="9467850" y="2472465"/>
            <a:ext cx="0" cy="538096"/>
          </a:xfrm>
          <a:prstGeom prst="line">
            <a:avLst/>
          </a:prstGeom>
          <a:noFill/>
          <a:ln w="38100">
            <a:solidFill>
              <a:srgbClr val="C2500F"/>
            </a:solidFill>
            <a:prstDash val="solid"/>
          </a:ln>
        </p:spPr>
      </p:sp>
      <p:sp>
        <p:nvSpPr>
          <p:cNvPr id="41" name="Text 34"/>
          <p:cNvSpPr/>
          <p:nvPr/>
        </p:nvSpPr>
        <p:spPr>
          <a:xfrm>
            <a:off x="9575800" y="2472465"/>
            <a:ext cx="1988312" cy="384903"/>
          </a:xfrm>
          <a:prstGeom prst="rect">
            <a:avLst/>
          </a:prstGeom>
          <a:noFill/>
          <a:ln/>
        </p:spPr>
        <p:txBody>
          <a:bodyPr wrap="square" lIns="0" tIns="0" rIns="0" bIns="0" rtlCol="0" anchor="t">
            <a:normAutofit/>
          </a:bodyPr>
          <a:lstStyle/>
          <a:p>
            <a:pPr algn="l" indent="0" marL="0">
              <a:lnSpc>
                <a:spcPts val="1433"/>
              </a:lnSpc>
              <a:buNone/>
            </a:pPr>
            <a:r>
              <a:rPr lang="en-US" sz="1194" b="1" dirty="0">
                <a:solidFill>
                  <a:srgbClr val="14213D"/>
                </a:solidFill>
                <a:latin typeface="DM Sans" pitchFamily="34" charset="0"/>
                <a:ea typeface="DM Sans" pitchFamily="34" charset="-122"/>
                <a:cs typeface="DM Sans" pitchFamily="34" charset="-120"/>
              </a:rPr>
              <a:t>Proactive risk management</a:t>
            </a:r>
            <a:endParaRPr lang="en-US" sz="1194" dirty="0"/>
          </a:p>
        </p:txBody>
      </p:sp>
      <p:sp>
        <p:nvSpPr>
          <p:cNvPr id="42" name="Text 35"/>
          <p:cNvSpPr/>
          <p:nvPr/>
        </p:nvSpPr>
        <p:spPr>
          <a:xfrm>
            <a:off x="9575800" y="2844668"/>
            <a:ext cx="1988312" cy="191294"/>
          </a:xfrm>
          <a:prstGeom prst="rect">
            <a:avLst/>
          </a:prstGeom>
          <a:noFill/>
          <a:ln/>
        </p:spPr>
        <p:txBody>
          <a:bodyPr wrap="square" lIns="0" tIns="0" rIns="0" bIns="0" rtlCol="0" anchor="t">
            <a:normAutofit/>
          </a:bodyPr>
          <a:lstStyle/>
          <a:p>
            <a:pPr algn="l" indent="0" marL="0">
              <a:lnSpc>
                <a:spcPts val="1323"/>
              </a:lnSpc>
              <a:buNone/>
            </a:pPr>
            <a:r>
              <a:rPr lang="en-US" sz="1103" dirty="0">
                <a:solidFill>
                  <a:srgbClr val="3B4660"/>
                </a:solidFill>
                <a:latin typeface="DM Sans" pitchFamily="34" charset="0"/>
                <a:ea typeface="DM Sans" pitchFamily="34" charset="-122"/>
                <a:cs typeface="DM Sans" pitchFamily="34" charset="-120"/>
              </a:rPr>
              <a:t>Act before costly events.</a:t>
            </a:r>
            <a:endParaRPr lang="en-US" sz="1103" dirty="0"/>
          </a:p>
        </p:txBody>
      </p:sp>
      <p:sp>
        <p:nvSpPr>
          <p:cNvPr id="43" name="Shape 36"/>
          <p:cNvSpPr/>
          <p:nvPr/>
        </p:nvSpPr>
        <p:spPr>
          <a:xfrm>
            <a:off x="9467850" y="3086762"/>
            <a:ext cx="0" cy="524206"/>
          </a:xfrm>
          <a:prstGeom prst="line">
            <a:avLst/>
          </a:prstGeom>
          <a:noFill/>
          <a:ln w="38100">
            <a:solidFill>
              <a:srgbClr val="C2500F"/>
            </a:solidFill>
            <a:prstDash val="solid"/>
          </a:ln>
        </p:spPr>
      </p:sp>
      <p:sp>
        <p:nvSpPr>
          <p:cNvPr id="44" name="Text 37"/>
          <p:cNvSpPr/>
          <p:nvPr/>
        </p:nvSpPr>
        <p:spPr>
          <a:xfrm>
            <a:off x="9575800" y="3086762"/>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Precision outreach</a:t>
            </a:r>
            <a:endParaRPr lang="en-US" sz="1186" dirty="0"/>
          </a:p>
        </p:txBody>
      </p:sp>
      <p:sp>
        <p:nvSpPr>
          <p:cNvPr id="45" name="Text 38"/>
          <p:cNvSpPr/>
          <p:nvPr/>
        </p:nvSpPr>
        <p:spPr>
          <a:xfrm>
            <a:off x="9575800" y="3279180"/>
            <a:ext cx="1988312" cy="357188"/>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Right member, right intervention.</a:t>
            </a:r>
            <a:endParaRPr lang="en-US" sz="1091" dirty="0"/>
          </a:p>
        </p:txBody>
      </p:sp>
      <p:sp>
        <p:nvSpPr>
          <p:cNvPr id="46" name="Shape 39"/>
          <p:cNvSpPr/>
          <p:nvPr/>
        </p:nvSpPr>
        <p:spPr>
          <a:xfrm>
            <a:off x="9467850" y="3687167"/>
            <a:ext cx="0" cy="524140"/>
          </a:xfrm>
          <a:prstGeom prst="line">
            <a:avLst/>
          </a:prstGeom>
          <a:noFill/>
          <a:ln w="38100">
            <a:solidFill>
              <a:srgbClr val="C2500F"/>
            </a:solidFill>
            <a:prstDash val="solid"/>
          </a:ln>
        </p:spPr>
      </p:sp>
      <p:sp>
        <p:nvSpPr>
          <p:cNvPr id="47" name="Text 40"/>
          <p:cNvSpPr/>
          <p:nvPr/>
        </p:nvSpPr>
        <p:spPr>
          <a:xfrm>
            <a:off x="9575800" y="3687167"/>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Faster insights</a:t>
            </a:r>
            <a:endParaRPr lang="en-US" sz="1186" dirty="0"/>
          </a:p>
        </p:txBody>
      </p:sp>
      <p:sp>
        <p:nvSpPr>
          <p:cNvPr id="48" name="Text 41"/>
          <p:cNvSpPr/>
          <p:nvPr/>
        </p:nvSpPr>
        <p:spPr>
          <a:xfrm>
            <a:off x="9575800" y="3879586"/>
            <a:ext cx="1988312" cy="357121"/>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Automated analysis, not manual digging.</a:t>
            </a:r>
            <a:endParaRPr lang="en-US" sz="1091" dirty="0"/>
          </a:p>
        </p:txBody>
      </p:sp>
      <p:sp>
        <p:nvSpPr>
          <p:cNvPr id="49" name="Shape 42"/>
          <p:cNvSpPr/>
          <p:nvPr/>
        </p:nvSpPr>
        <p:spPr>
          <a:xfrm>
            <a:off x="9467850" y="4287507"/>
            <a:ext cx="0" cy="524206"/>
          </a:xfrm>
          <a:prstGeom prst="line">
            <a:avLst/>
          </a:prstGeom>
          <a:noFill/>
          <a:ln w="38100">
            <a:solidFill>
              <a:srgbClr val="C2500F"/>
            </a:solidFill>
            <a:prstDash val="solid"/>
          </a:ln>
        </p:spPr>
      </p:sp>
      <p:sp>
        <p:nvSpPr>
          <p:cNvPr id="50" name="Text 43"/>
          <p:cNvSpPr/>
          <p:nvPr/>
        </p:nvSpPr>
        <p:spPr>
          <a:xfrm>
            <a:off x="9575800" y="4287507"/>
            <a:ext cx="1988312" cy="205118"/>
          </a:xfrm>
          <a:prstGeom prst="rect">
            <a:avLst/>
          </a:prstGeom>
          <a:noFill/>
          <a:ln/>
        </p:spPr>
        <p:txBody>
          <a:bodyPr wrap="square" lIns="0" tIns="0" rIns="0" bIns="0" rtlCol="0" anchor="t">
            <a:normAutofit/>
          </a:bodyPr>
          <a:lstStyle/>
          <a:p>
            <a:pPr algn="l" indent="0" marL="0">
              <a:lnSpc>
                <a:spcPts val="1424"/>
              </a:lnSpc>
              <a:buNone/>
            </a:pPr>
            <a:r>
              <a:rPr lang="en-US" sz="1186" b="1" dirty="0">
                <a:solidFill>
                  <a:srgbClr val="14213D"/>
                </a:solidFill>
                <a:latin typeface="DM Sans" pitchFamily="34" charset="0"/>
                <a:ea typeface="DM Sans" pitchFamily="34" charset="-122"/>
                <a:cs typeface="DM Sans" pitchFamily="34" charset="-120"/>
              </a:rPr>
              <a:t>Measurable ROI</a:t>
            </a:r>
            <a:endParaRPr lang="en-US" sz="1186" dirty="0"/>
          </a:p>
        </p:txBody>
      </p:sp>
      <p:sp>
        <p:nvSpPr>
          <p:cNvPr id="51" name="Text 44"/>
          <p:cNvSpPr/>
          <p:nvPr/>
        </p:nvSpPr>
        <p:spPr>
          <a:xfrm>
            <a:off x="9575800" y="4479925"/>
            <a:ext cx="1988312" cy="357188"/>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Track savings and ROI for every campaign.</a:t>
            </a:r>
            <a:endParaRPr lang="en-US" sz="1091" dirty="0"/>
          </a:p>
        </p:txBody>
      </p:sp>
      <p:sp>
        <p:nvSpPr>
          <p:cNvPr id="52" name="Shape 45"/>
          <p:cNvSpPr/>
          <p:nvPr/>
        </p:nvSpPr>
        <p:spPr>
          <a:xfrm>
            <a:off x="9467850" y="4887913"/>
            <a:ext cx="0" cy="704321"/>
          </a:xfrm>
          <a:prstGeom prst="line">
            <a:avLst/>
          </a:prstGeom>
          <a:noFill/>
          <a:ln w="38100">
            <a:solidFill>
              <a:srgbClr val="C2500F"/>
            </a:solidFill>
            <a:prstDash val="solid"/>
          </a:ln>
        </p:spPr>
      </p:sp>
      <p:sp>
        <p:nvSpPr>
          <p:cNvPr id="53" name="Text 46"/>
          <p:cNvSpPr/>
          <p:nvPr/>
        </p:nvSpPr>
        <p:spPr>
          <a:xfrm>
            <a:off x="9575800" y="4887913"/>
            <a:ext cx="1988312" cy="385101"/>
          </a:xfrm>
          <a:prstGeom prst="rect">
            <a:avLst/>
          </a:prstGeom>
          <a:noFill/>
          <a:ln/>
        </p:spPr>
        <p:txBody>
          <a:bodyPr wrap="square" lIns="0" tIns="0" rIns="0" bIns="0" rtlCol="0" anchor="t">
            <a:normAutofit/>
          </a:bodyPr>
          <a:lstStyle/>
          <a:p>
            <a:pPr algn="l" indent="0" marL="0">
              <a:lnSpc>
                <a:spcPts val="1433"/>
              </a:lnSpc>
              <a:buNone/>
            </a:pPr>
            <a:r>
              <a:rPr lang="en-US" sz="1194" b="1" dirty="0">
                <a:solidFill>
                  <a:srgbClr val="14213D"/>
                </a:solidFill>
                <a:latin typeface="DM Sans" pitchFamily="34" charset="0"/>
                <a:ea typeface="DM Sans" pitchFamily="34" charset="-122"/>
                <a:cs typeface="DM Sans" pitchFamily="34" charset="-120"/>
              </a:rPr>
              <a:t>Executive-ready reporting</a:t>
            </a:r>
            <a:endParaRPr lang="en-US" sz="1194" dirty="0"/>
          </a:p>
        </p:txBody>
      </p:sp>
      <p:sp>
        <p:nvSpPr>
          <p:cNvPr id="54" name="Text 47"/>
          <p:cNvSpPr/>
          <p:nvPr/>
        </p:nvSpPr>
        <p:spPr>
          <a:xfrm>
            <a:off x="9575800" y="5260314"/>
            <a:ext cx="1988312" cy="357320"/>
          </a:xfrm>
          <a:prstGeom prst="rect">
            <a:avLst/>
          </a:prstGeom>
          <a:noFill/>
          <a:ln/>
        </p:spPr>
        <p:txBody>
          <a:bodyPr wrap="square" lIns="0" tIns="0" rIns="0" bIns="0" rtlCol="0" anchor="t">
            <a:normAutofit/>
          </a:bodyPr>
          <a:lstStyle/>
          <a:p>
            <a:pPr algn="l" indent="0" marL="0">
              <a:lnSpc>
                <a:spcPts val="1310"/>
              </a:lnSpc>
              <a:buNone/>
            </a:pPr>
            <a:r>
              <a:rPr lang="en-US" sz="1091" dirty="0">
                <a:solidFill>
                  <a:srgbClr val="3B4660"/>
                </a:solidFill>
                <a:latin typeface="DM Sans" pitchFamily="34" charset="0"/>
                <a:ea typeface="DM Sans" pitchFamily="34" charset="-122"/>
                <a:cs typeface="DM Sans" pitchFamily="34" charset="-120"/>
              </a:rPr>
              <a:t>Summaries and ROI view for leadership.</a:t>
            </a:r>
            <a:endParaRPr lang="en-US" sz="1091" dirty="0"/>
          </a:p>
        </p:txBody>
      </p:sp>
      <p:sp>
        <p:nvSpPr>
          <p:cNvPr id="55" name="Text 48"/>
          <p:cNvSpPr/>
          <p:nvPr/>
        </p:nvSpPr>
        <p:spPr>
          <a:xfrm>
            <a:off x="508000" y="5897033"/>
            <a:ext cx="11176000" cy="656167"/>
          </a:xfrm>
          <a:prstGeom prst="roundRect">
            <a:avLst>
              <a:gd name="adj" fmla="val 15484"/>
            </a:avLst>
          </a:prstGeom>
          <a:solidFill>
            <a:srgbClr val="C2500F"/>
          </a:solidFill>
          <a:ln/>
        </p:spPr>
        <p:txBody>
          <a:bodyPr wrap="square" lIns="173442" tIns="84542" rIns="0" bIns="59142" rtlCol="0" anchor="t">
            <a:normAutofit/>
          </a:bodyPr>
          <a:lstStyle/>
          <a:p>
            <a:pPr algn="l" indent="0" marL="0">
              <a:lnSpc>
                <a:spcPts val="1684"/>
              </a:lnSpc>
              <a:buNone/>
            </a:pPr>
            <a:r>
              <a:rPr lang="en-US" sz="1295" b="1" dirty="0">
                <a:solidFill>
                  <a:srgbClr val="FFFFFF"/>
                </a:solidFill>
                <a:latin typeface="DM Sans" pitchFamily="34" charset="0"/>
                <a:ea typeface="DM Sans" pitchFamily="34" charset="-122"/>
                <a:cs typeface="DM Sans" pitchFamily="34" charset="-120"/>
              </a:rPr>
              <a:t>Executive takeaway:</a:t>
            </a:r>
            <a:r>
              <a:rPr lang="en-US" sz="1295" dirty="0">
                <a:solidFill>
                  <a:srgbClr val="FFFFFF"/>
                </a:solidFill>
                <a:latin typeface="DM Sans" pitchFamily="34" charset="0"/>
                <a:ea typeface="DM Sans" pitchFamily="34" charset="-122"/>
                <a:cs typeface="DM Sans" pitchFamily="34" charset="-120"/>
              </a:rPr>
              <a:t> Claims and clinical data tell us what happened. SDOH.ai reveals why it happened, predicts what may happen next, and recommends the best intervention to improve member outcomes while reducing avoidable healthcare costs.</a:t>
            </a:r>
            <a:endParaRPr lang="en-US" sz="1295" dirty="0"/>
          </a:p>
        </p:txBody>
      </p:sp>
    </p:spTree>
  </p:cSld>
  <p:clrMapOvr>
    <a:masterClrMapping/>
  </p:clrMapOvr>
</p:sld>
</file>

<file path=ppt/theme/theme1.xml><?xml version="1.0" encoding="utf-8"?>
<a:theme xmlns:a="http://schemas.openxmlformats.org/drawingml/2006/main" name="SDOH Agentic AI Business Slide">
  <a:themeElements>
    <a:clrScheme name="SDOH Agentic AI Business Slide">
      <a:dk1>
        <a:srgbClr val="14213D"/>
      </a:dk1>
      <a:lt1>
        <a:srgbClr val="F6F4EF"/>
      </a:lt1>
      <a:dk2>
        <a:srgbClr val="4D566A"/>
      </a:dk2>
      <a:lt2>
        <a:srgbClr val="DFDFDD"/>
      </a:lt2>
      <a:accent1>
        <a:srgbClr val="C2500F"/>
      </a:accent1>
      <a:accent2>
        <a:srgbClr val="F2A66B"/>
      </a:accent2>
      <a:accent3>
        <a:srgbClr val="22335E"/>
      </a:accent3>
      <a:accent4>
        <a:srgbClr val="3B4660"/>
      </a:accent4>
      <a:accent5>
        <a:srgbClr val="F6E3D6"/>
      </a:accent5>
      <a:accent6>
        <a:srgbClr val="B9C3D9"/>
      </a:accent6>
      <a:hlink>
        <a:srgbClr val="0563C1"/>
      </a:hlink>
      <a:folHlink>
        <a:srgbClr val="954F72"/>
      </a:folHlink>
    </a:clrScheme>
    <a:fontScheme name="SDOH Agentic AI Business Slid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SDOH Agentic AI Business Slide</dc:title>
  <dc:subject/>
  <dc:creator/>
  <cp:lastModifiedBy/>
  <cp:revision>1</cp:revision>
  <dcterms:created xsi:type="dcterms:W3CDTF">2026-10-16T07:53:01Z</dcterms:created>
  <dcterms:modified xsi:type="dcterms:W3CDTF">2026-10-16T07:53:01Z</dcterms:modified>
</cp:coreProperties>
</file>